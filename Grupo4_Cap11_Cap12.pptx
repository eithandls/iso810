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3A4B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B3A4B"/>
                </a:solidFill>
                <a:latin typeface="Calibri"/>
              </a:rPr>
              <a:t>Costo acumulado (US$) por meses de uso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Desarrollar: $30,000 + $500/mes</c:v>
                </c:pt>
              </c:strCache>
            </c:strRef>
          </c:tx>
          <c:spPr>
            <a:solidFill>
              <a:srgbClr val="2A7F8E"/>
            </a:solidFill>
            <a:ln w="38100" cap="flat">
              <a:solidFill>
                <a:srgbClr val="2A7F8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7F8E"/>
              </a:solidFill>
              <a:ln w="9525" cap="flat">
                <a:solidFill>
                  <a:srgbClr val="2A7F8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6</c:v>
                  </c:pt>
                  <c:pt idx="2">
                    <c:v>12</c:v>
                  </c:pt>
                  <c:pt idx="3">
                    <c:v>18</c:v>
                  </c:pt>
                  <c:pt idx="4">
                    <c:v>24</c:v>
                  </c:pt>
                  <c:pt idx="5">
                    <c:v>30</c:v>
                  </c:pt>
                  <c:pt idx="6">
                    <c:v>36</c:v>
                  </c:pt>
                  <c:pt idx="7">
                    <c:v>42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30000</c:v>
                </c:pt>
                <c:pt idx="1">
                  <c:v>33000</c:v>
                </c:pt>
                <c:pt idx="2">
                  <c:v>36000</c:v>
                </c:pt>
                <c:pt idx="3">
                  <c:v>39000</c:v>
                </c:pt>
                <c:pt idx="4">
                  <c:v>42000</c:v>
                </c:pt>
                <c:pt idx="5">
                  <c:v>45000</c:v>
                </c:pt>
                <c:pt idx="6">
                  <c:v>48000</c:v>
                </c:pt>
                <c:pt idx="7">
                  <c:v>51000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Comprar/arrendar: $15,000 + $1,000/mes</c:v>
                </c:pt>
              </c:strCache>
            </c:strRef>
          </c:tx>
          <c:spPr>
            <a:solidFill>
              <a:srgbClr val="E4572E"/>
            </a:solidFill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6</c:v>
                  </c:pt>
                  <c:pt idx="2">
                    <c:v>12</c:v>
                  </c:pt>
                  <c:pt idx="3">
                    <c:v>18</c:v>
                  </c:pt>
                  <c:pt idx="4">
                    <c:v>24</c:v>
                  </c:pt>
                  <c:pt idx="5">
                    <c:v>30</c:v>
                  </c:pt>
                  <c:pt idx="6">
                    <c:v>36</c:v>
                  </c:pt>
                  <c:pt idx="7">
                    <c:v>42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15000</c:v>
                </c:pt>
                <c:pt idx="1">
                  <c:v>21000</c:v>
                </c:pt>
                <c:pt idx="2">
                  <c:v>27000</c:v>
                </c:pt>
                <c:pt idx="3">
                  <c:v>33000</c:v>
                </c:pt>
                <c:pt idx="4">
                  <c:v>39000</c:v>
                </c:pt>
                <c:pt idx="5">
                  <c:v>45000</c:v>
                </c:pt>
                <c:pt idx="6">
                  <c:v>51000</c:v>
                </c:pt>
                <c:pt idx="7">
                  <c:v>57000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B6B73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B6B73"/>
                    </a:solidFill>
                    <a:latin typeface="Arial"/>
                  </a:rPr>
                  <a:t>Meses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FE3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F2A3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3A4B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B3A4B"/>
                </a:solidFill>
                <a:latin typeface="Calibri"/>
              </a:rPr>
              <a:t>Puntaje ponderado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Puntaje</c:v>
                </c:pt>
              </c:strCache>
            </c:strRef>
          </c:tx>
          <c:spPr>
            <a:solidFill>
              <a:srgbClr val="2A7F8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3A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F8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7F8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Prov. A</c:v>
                  </c:pt>
                  <c:pt idx="1">
                    <c:v>Prov. B</c:v>
                  </c:pt>
                  <c:pt idx="2">
                    <c:v>Prov. 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7.25</c:v>
                </c:pt>
                <c:pt idx="1">
                  <c:v>7.55</c:v>
                </c:pt>
                <c:pt idx="2">
                  <c:v>6.85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3A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Presentamos dos capítulos complementarios: cómo trabajar con las personas que hacen posible el proyecto (Cap. 11) y cómo obtener de fuera los bienes y servicios que el equipo no puede producir (Cap. 12). Ambos tratan de relaciones: internas con el equipo y externas con los proveedores.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 de la exposición. Primero el capítulo 11 sobre el lado humano del proyecto; luego el capítulo 12 sobre cómo contratar externamente lo que el proyecto necesita.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Iniciamos el capítulo 11. La idea central: la tecnología y los planes no ejecutan proyectos; las personas sí. El gerente de proyecto dedica gran parte de su tiempo a coordinar, comunicar y motivar.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a los actores. Resaltar que el gerente de proyecto rara vez es 'dueño' de las personas: el patrocinador aporta recursos y los gerentes funcionales prestan al personal. Los proveedores conectan con el capítulo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estructuras típicas. En la funcional, el gerente de proyecto casi no tiene autoridad. En la matricial, las personas responden a dos jefes (funcional y de proyecto), lo que exige negociación constante. En la proyectizada, el gerente tiene control pleno, pero el reto es qué hacer con el personal al cerrar 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matriz RACI cruza actividades con personas. Regla clave: cada actividad debe tener un solo 'A' (quien rinde cuentas). Evita que las tareas se queden sin dueño o que dos personas crean que la tarea es de la otra.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 Bruce Tuckman. La etapa de 'tormenta' es normal y no significa que el equipo esté fallando. El estilo del gerente debe cambiar con la etapa: más directivo al inicio, más delegador cuando el equipo ya rinde. Las actividades de integración (team building), la capacitación y el reconocimiento aceleran el paso entre etapas.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Maslow: las necesidades superiores (estima, autorrealización) motivan solo cuando las básicas están cubiertas; en proyectos, retos y reconocimiento. Herzberg: un buen salario evita la insatisfacción pero no motiva por sí solo; lo que motiva es el logro y el reconocimiento. McGregor: la actitud del gerente (Teoría X o Y) condiciona cómo trata al equipo. También se suele mencionar a McClelland (logro, afiliación, poder).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bases de poder (French y Raven). En estructuras funcionales o matriciales débiles el gerente tiene poco poder legítimo, así que depende de su experiencia y de su capacidad de reconocer al equipo. La coerción puede lograr resultados a corto plazo, pero daña la moral.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Según estudios clásicos (Thamhain y Wilemon), los conflictos más frecuentes en proyectos giran en torno a cronogramas, prioridades y recursos; las diferencias de personalidad son menos frecuentes de lo que se cree. La técnica más efectiva es confrontar el problema (resolverlo de raíz); retirarse es la menos efectiva. Un poco de conflicto sano mejora la creatividad; hay que evitar el pensamiento de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Pasamos al capítulo 12. La adquisición (procurement) es obtener bienes y servicios de una fuente externa. En proyectos de TI es muy común: licencias, hardware, desarrollo tercerizado, consultoría.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proceso sigue el ciclo de vida del contrato. En la planificación se decide si comprar y qué tipo de contrato usar. En la ejecución se selecciona al proveedor. En el control se vigila que cumpla. En el cierre se verifica todo y se liquida formalmente. El contrato es un documento legal: todo cambio debe hacerse por escrito.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de análisis: desarrollar cuesta $30,000 más $500 mensuales de mantenimiento; comprar o arrendar cuesta $15,000 más $1,000 mensuales. Igualando 30,000 + 500m = 15,000 + 1,000m obtenemos m = 30 meses. Si el sistema se usará menos de 30 meses, conviene comprar; si se usará más, conviene desarrollar. Además del costo, se consideran factores cualitativos: control, seguridad, conocimiento y riesgo.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SOW (Statement of Work) es la base de toda solicitud: si está mal escrito, las ofertas no serán comparables. Según la necesidad se envía un RFI (información), un RFQ (precio), un RFP (propuesta de solución) o un IFB (licitación, típica del sector público, como en las compras gubernamentales dominicanas).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precio fijo, el vendedor asume el riesgo: si le cuesta más, pierde. Con costo reembolsable, el comprador asume el riesgo: paga lo que realmente cueste más un honorario. Tiempo y materiales está en medio; es práctico, pero sin un tope el costo puede crecer sin control. Regla práctica: a mayor claridad del alcance, más conviene el precio fijo.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de modelo de ponderación. Se definen los criterios y sus pesos ANTES de recibir las ofertas para evitar sesgos. Cada evaluador califica y se multiplica por el peso. El proveedor B obtiene 7.55 puntos frente a 7.25 de A y 6.85 de C. Otros criterios posibles: referencias, estabilidad financiera, soporte y garantías.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control, el comprador vigila que el proveedor cumpla y gestiona cambios, pagos y posibles reclamaciones. En el cierre, se verifica que todo se entregó, se hace una auditoría del proceso, se notifica formalmente el cierre por escrito y se documentan las lecciones aprendidas para futuras compras.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las cuatro ideas principales. Ambos capítulos comparten un mensaje: los proyectos se gestionan a través de personas y acuerdos, dentro y fuera de la organización.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espacio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4 · CAPÍTULOS 11 Y 12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personas y las adquisiciones en la gestión de proyectos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11: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D6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con las personas del proyecto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12: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D6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Adquisición de bienes y servicios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06440" y="868680"/>
            <a:ext cx="1554480" cy="155448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0605" y="1272845"/>
            <a:ext cx="746150" cy="7461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0" y="2240280"/>
            <a:ext cx="1325880" cy="132588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929" y="2585009"/>
            <a:ext cx="636422" cy="63642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989320" y="2971800"/>
            <a:ext cx="1143000" cy="11430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268980"/>
            <a:ext cx="548640" cy="5486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086600" y="2331720"/>
            <a:ext cx="411480" cy="320040"/>
          </a:xfrm>
          <a:prstGeom prst="line">
            <a:avLst/>
          </a:prstGeom>
          <a:noFill/>
          <a:ln w="25400">
            <a:solidFill>
              <a:srgbClr val="9FB6C1"/>
            </a:solidFill>
            <a:prstDash val="dash"/>
          </a:ln>
        </p:spPr>
      </p:sp>
      <p:sp>
        <p:nvSpPr>
          <p:cNvPr id="12" name="Shape 7"/>
          <p:cNvSpPr/>
          <p:nvPr/>
        </p:nvSpPr>
        <p:spPr>
          <a:xfrm>
            <a:off x="7132320" y="3246120"/>
            <a:ext cx="274320" cy="91440"/>
          </a:xfrm>
          <a:prstGeom prst="line">
            <a:avLst/>
          </a:prstGeom>
          <a:noFill/>
          <a:ln w="25400">
            <a:solidFill>
              <a:srgbClr val="9FB6C1"/>
            </a:solidFill>
            <a:prstDash val="dash"/>
          </a:ln>
        </p:spPr>
      </p:sp>
      <p:sp>
        <p:nvSpPr>
          <p:cNvPr id="13" name="Shape 8"/>
          <p:cNvSpPr/>
          <p:nvPr/>
        </p:nvSpPr>
        <p:spPr>
          <a:xfrm>
            <a:off x="6537960" y="2423160"/>
            <a:ext cx="0" cy="502920"/>
          </a:xfrm>
          <a:prstGeom prst="line">
            <a:avLst/>
          </a:prstGeom>
          <a:noFill/>
          <a:ln w="25400">
            <a:solidFill>
              <a:srgbClr val="9FB6C1"/>
            </a:solidFill>
            <a:prstDash val="dash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caras de un mismo reto: coordinar personas dentro y fuera de la organización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3429000"/>
          </a:xfrm>
          <a:prstGeom prst="roundRect">
            <a:avLst>
              <a:gd name="adj" fmla="val 32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731520" cy="73152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17446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57276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80136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con las personas del proyecto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603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Actores del proyecto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organizacionales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del equipo y matriz RACI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y motivación del equipo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Poder, influencia y conflictos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09160" y="1325880"/>
            <a:ext cx="3977640" cy="3429000"/>
          </a:xfrm>
          <a:prstGeom prst="roundRect">
            <a:avLst>
              <a:gd name="adj" fmla="val 32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83480" y="155448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675" y="174467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852160" y="157276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6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12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852160" y="180136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Adquisición de bienes y servicios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029200" y="25603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adquisiciones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 hacer o comprar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de solicitud (SOW, RFP…)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contrato y selección de proveedores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y cierre de contratos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85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con las personas del proyecto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661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proyectos los hacen personas: saber organizarlas, motivarlas y resolver sus conflictos es clave para el éxito.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35040" y="1143000"/>
            <a:ext cx="2651760" cy="265176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4498" y="1832458"/>
            <a:ext cx="1272845" cy="127284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¿Quiénes son las personas del proyecto?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interesados que aportan, deciden o se ven afectados por el proyecto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16971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645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Patrocinador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2128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 y respalda el proyecto; defiende sus objetivos ante la alta dirección.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371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29000" y="1554480"/>
            <a:ext cx="548640" cy="54864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646" y="16971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14800" y="1645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del proyecto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22128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Planifica, coordina y responde por el alcance, el tiempo y el costo.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17920" y="1554480"/>
            <a:ext cx="548640" cy="54864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566" y="169712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03720" y="1645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del proyecto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2128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Especialistas que ejecutan el trabajo técnico y crean los entregables.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31089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" y="3291840"/>
            <a:ext cx="548640" cy="54864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343448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25880" y="3383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Gerentes funcionales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950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Jefes de departamento que asignan y comparten personal con el proyecto.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246120" y="31089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429000" y="3291840"/>
            <a:ext cx="548640" cy="54864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646" y="343448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114800" y="3383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y usuarios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3429000" y="3950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Definen las necesidades y aceptan (o rechazan) los entregables.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035040" y="31089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17920" y="3291840"/>
            <a:ext cx="548640" cy="54864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0566" y="3434486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903720" y="3383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6217920" y="3950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externas que suministran bienes y servicios (Cap. 12).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Estructuras organizacionales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define cuánta autoridad tiene el gerente sobre las personas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1508760"/>
            <a:ext cx="502920" cy="25603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60220" y="1764792"/>
            <a:ext cx="0" cy="155448"/>
          </a:xfrm>
          <a:prstGeom prst="line">
            <a:avLst/>
          </a:prstGeom>
          <a:noFill/>
          <a:ln w="15875">
            <a:solidFill>
              <a:srgbClr val="5B6B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2980" y="1920240"/>
            <a:ext cx="1554480" cy="0"/>
          </a:xfrm>
          <a:prstGeom prst="line">
            <a:avLst/>
          </a:prstGeom>
          <a:noFill/>
          <a:ln w="15875">
            <a:solidFill>
              <a:srgbClr val="5B6B7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2980" y="1920240"/>
            <a:ext cx="0" cy="137160"/>
          </a:xfrm>
          <a:prstGeom prst="line">
            <a:avLst/>
          </a:prstGeom>
          <a:noFill/>
          <a:ln w="15875">
            <a:solidFill>
              <a:srgbClr val="5B6B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4380" y="2221992"/>
            <a:ext cx="457200" cy="237744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4380" y="2551176"/>
            <a:ext cx="457200" cy="237744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60220" y="1920240"/>
            <a:ext cx="0" cy="137160"/>
          </a:xfrm>
          <a:prstGeom prst="line">
            <a:avLst/>
          </a:prstGeom>
          <a:noFill/>
          <a:ln w="15875">
            <a:solidFill>
              <a:srgbClr val="5B6B7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31620" y="2221992"/>
            <a:ext cx="457200" cy="237744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31620" y="2551176"/>
            <a:ext cx="457200" cy="237744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7460" y="1920240"/>
            <a:ext cx="0" cy="137160"/>
          </a:xfrm>
          <a:prstGeom prst="line">
            <a:avLst/>
          </a:prstGeom>
          <a:noFill/>
          <a:ln w="15875">
            <a:solidFill>
              <a:srgbClr val="5B6B7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08860" y="2221992"/>
            <a:ext cx="457200" cy="237744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08860" y="2551176"/>
            <a:ext cx="457200" cy="237744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880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3246120"/>
            <a:ext cx="246888" cy="128016"/>
          </a:xfrm>
          <a:prstGeom prst="roundRect">
            <a:avLst>
              <a:gd name="adj" fmla="val 21429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1832" y="3246120"/>
            <a:ext cx="246888" cy="128016"/>
          </a:xfrm>
          <a:prstGeom prst="roundRect">
            <a:avLst>
              <a:gd name="adj" fmla="val 21429"/>
            </a:avLst>
          </a:prstGeom>
          <a:solidFill>
            <a:srgbClr val="C9D6DC"/>
          </a:solidFill>
          <a:ln w="12700">
            <a:solidFill>
              <a:srgbClr val="C9D6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43584" y="3246120"/>
            <a:ext cx="246888" cy="128016"/>
          </a:xfrm>
          <a:prstGeom prst="roundRect">
            <a:avLst>
              <a:gd name="adj" fmla="val 21429"/>
            </a:avLst>
          </a:prstGeom>
          <a:solidFill>
            <a:srgbClr val="C9D6DC"/>
          </a:solidFill>
          <a:ln w="12700">
            <a:solidFill>
              <a:srgbClr val="C9D6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5336" y="3246120"/>
            <a:ext cx="246888" cy="128016"/>
          </a:xfrm>
          <a:prstGeom prst="roundRect">
            <a:avLst>
              <a:gd name="adj" fmla="val 21429"/>
            </a:avLst>
          </a:prstGeom>
          <a:solidFill>
            <a:srgbClr val="C9D6DC"/>
          </a:solidFill>
          <a:ln w="12700">
            <a:solidFill>
              <a:srgbClr val="C9D6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47088" y="3246120"/>
            <a:ext cx="246888" cy="128016"/>
          </a:xfrm>
          <a:prstGeom prst="roundRect">
            <a:avLst>
              <a:gd name="adj" fmla="val 21429"/>
            </a:avLst>
          </a:prstGeom>
          <a:solidFill>
            <a:srgbClr val="C9D6DC"/>
          </a:solidFill>
          <a:ln w="12700">
            <a:solidFill>
              <a:srgbClr val="C9D6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4107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 del GP: baja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7033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Organizada por departamentos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personal responde a su jefe funcional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es una tarea más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46120" y="1325880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0" y="1508760"/>
            <a:ext cx="502920" cy="25603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49140" y="1764792"/>
            <a:ext cx="0" cy="155448"/>
          </a:xfrm>
          <a:prstGeom prst="line">
            <a:avLst/>
          </a:prstGeom>
          <a:noFill/>
          <a:ln w="15875">
            <a:solidFill>
              <a:srgbClr val="5B6B7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71900" y="1920240"/>
            <a:ext cx="1554480" cy="0"/>
          </a:xfrm>
          <a:prstGeom prst="line">
            <a:avLst/>
          </a:prstGeom>
          <a:noFill/>
          <a:ln w="15875">
            <a:solidFill>
              <a:srgbClr val="5B6B7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71900" y="1920240"/>
            <a:ext cx="0" cy="137160"/>
          </a:xfrm>
          <a:prstGeom prst="line">
            <a:avLst/>
          </a:prstGeom>
          <a:noFill/>
          <a:ln w="15875">
            <a:solidFill>
              <a:srgbClr val="5B6B7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43300" y="2221992"/>
            <a:ext cx="457200" cy="237744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43300" y="2551176"/>
            <a:ext cx="457200" cy="237744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49140" y="1920240"/>
            <a:ext cx="0" cy="137160"/>
          </a:xfrm>
          <a:prstGeom prst="line">
            <a:avLst/>
          </a:prstGeom>
          <a:noFill/>
          <a:ln w="15875">
            <a:solidFill>
              <a:srgbClr val="5B6B7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20540" y="2221992"/>
            <a:ext cx="457200" cy="237744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20540" y="2551176"/>
            <a:ext cx="457200" cy="237744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26380" y="1920240"/>
            <a:ext cx="0" cy="137160"/>
          </a:xfrm>
          <a:prstGeom prst="line">
            <a:avLst/>
          </a:prstGeom>
          <a:noFill/>
          <a:ln w="15875">
            <a:solidFill>
              <a:srgbClr val="5B6B7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97780" y="2221992"/>
            <a:ext cx="457200" cy="237744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97780" y="2551176"/>
            <a:ext cx="457200" cy="237744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06140" y="2514600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406140" y="25146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3429000" y="2880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Matricial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3429000" y="3246120"/>
            <a:ext cx="246888" cy="128016"/>
          </a:xfrm>
          <a:prstGeom prst="roundRect">
            <a:avLst>
              <a:gd name="adj" fmla="val 21429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30752" y="3246120"/>
            <a:ext cx="246888" cy="128016"/>
          </a:xfrm>
          <a:prstGeom prst="roundRect">
            <a:avLst>
              <a:gd name="adj" fmla="val 21429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32504" y="3246120"/>
            <a:ext cx="246888" cy="128016"/>
          </a:xfrm>
          <a:prstGeom prst="roundRect">
            <a:avLst>
              <a:gd name="adj" fmla="val 21429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34256" y="3246120"/>
            <a:ext cx="246888" cy="128016"/>
          </a:xfrm>
          <a:prstGeom prst="roundRect">
            <a:avLst>
              <a:gd name="adj" fmla="val 21429"/>
            </a:avLst>
          </a:prstGeom>
          <a:solidFill>
            <a:srgbClr val="C9D6DC"/>
          </a:solidFill>
          <a:ln w="12700">
            <a:solidFill>
              <a:srgbClr val="C9D6D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36008" y="3246120"/>
            <a:ext cx="246888" cy="128016"/>
          </a:xfrm>
          <a:prstGeom prst="roundRect">
            <a:avLst>
              <a:gd name="adj" fmla="val 21429"/>
            </a:avLst>
          </a:prstGeom>
          <a:solidFill>
            <a:srgbClr val="C9D6DC"/>
          </a:solidFill>
          <a:ln w="12700">
            <a:solidFill>
              <a:srgbClr val="C9D6D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429000" y="34107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 del GP: compartida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3429000" y="37033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línea de reporte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Variantes: débil, balanceada y fuerte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conflicto de prioridades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035040" y="1325880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86600" y="1508760"/>
            <a:ext cx="502920" cy="25603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338060" y="1764792"/>
            <a:ext cx="0" cy="155448"/>
          </a:xfrm>
          <a:prstGeom prst="line">
            <a:avLst/>
          </a:prstGeom>
          <a:noFill/>
          <a:ln w="15875">
            <a:solidFill>
              <a:srgbClr val="5B6B7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60820" y="1920240"/>
            <a:ext cx="1554480" cy="0"/>
          </a:xfrm>
          <a:prstGeom prst="line">
            <a:avLst/>
          </a:prstGeom>
          <a:noFill/>
          <a:ln w="15875">
            <a:solidFill>
              <a:srgbClr val="5B6B7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60820" y="1920240"/>
            <a:ext cx="0" cy="137160"/>
          </a:xfrm>
          <a:prstGeom prst="line">
            <a:avLst/>
          </a:prstGeom>
          <a:noFill/>
          <a:ln w="15875">
            <a:solidFill>
              <a:srgbClr val="5B6B7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32220" y="2221992"/>
            <a:ext cx="457200" cy="237744"/>
          </a:xfrm>
          <a:prstGeom prst="rect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32220" y="2551176"/>
            <a:ext cx="457200" cy="237744"/>
          </a:xfrm>
          <a:prstGeom prst="rect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38060" y="1920240"/>
            <a:ext cx="0" cy="137160"/>
          </a:xfrm>
          <a:prstGeom prst="line">
            <a:avLst/>
          </a:prstGeom>
          <a:noFill/>
          <a:ln w="15875">
            <a:solidFill>
              <a:srgbClr val="5B6B7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09460" y="2221992"/>
            <a:ext cx="457200" cy="237744"/>
          </a:xfrm>
          <a:prstGeom prst="rect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109460" y="2551176"/>
            <a:ext cx="457200" cy="237744"/>
          </a:xfrm>
          <a:prstGeom prst="rect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115300" y="1920240"/>
            <a:ext cx="0" cy="137160"/>
          </a:xfrm>
          <a:prstGeom prst="line">
            <a:avLst/>
          </a:prstGeom>
          <a:noFill/>
          <a:ln w="15875">
            <a:solidFill>
              <a:srgbClr val="5B6B7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86700" y="2221992"/>
            <a:ext cx="457200" cy="237744"/>
          </a:xfrm>
          <a:prstGeom prst="rect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886700" y="2551176"/>
            <a:ext cx="457200" cy="237744"/>
          </a:xfrm>
          <a:prstGeom prst="rect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217920" y="2880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Proyectizada</a:t>
            </a:r>
            <a:endParaRPr lang="en-US" sz="1700" dirty="0"/>
          </a:p>
        </p:txBody>
      </p:sp>
      <p:sp>
        <p:nvSpPr>
          <p:cNvPr id="62" name="Shape 60"/>
          <p:cNvSpPr/>
          <p:nvPr/>
        </p:nvSpPr>
        <p:spPr>
          <a:xfrm>
            <a:off x="6217920" y="3246120"/>
            <a:ext cx="246888" cy="128016"/>
          </a:xfrm>
          <a:prstGeom prst="roundRect">
            <a:avLst>
              <a:gd name="adj" fmla="val 21429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519672" y="3246120"/>
            <a:ext cx="246888" cy="128016"/>
          </a:xfrm>
          <a:prstGeom prst="roundRect">
            <a:avLst>
              <a:gd name="adj" fmla="val 21429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821424" y="3246120"/>
            <a:ext cx="246888" cy="128016"/>
          </a:xfrm>
          <a:prstGeom prst="roundRect">
            <a:avLst>
              <a:gd name="adj" fmla="val 21429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23176" y="3246120"/>
            <a:ext cx="246888" cy="128016"/>
          </a:xfrm>
          <a:prstGeom prst="roundRect">
            <a:avLst>
              <a:gd name="adj" fmla="val 21429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24928" y="3246120"/>
            <a:ext cx="246888" cy="128016"/>
          </a:xfrm>
          <a:prstGeom prst="roundRect">
            <a:avLst>
              <a:gd name="adj" fmla="val 21429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217920" y="34107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 del GP: alta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6217920" y="37033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dedicados por proyecto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GP controla recursos y presupuesto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terminar, ¿a dónde va la gente?</a:t>
            </a:r>
            <a:endParaRPr lang="en-US" sz="1150" dirty="0"/>
          </a:p>
        </p:txBody>
      </p:sp>
      <p:sp>
        <p:nvSpPr>
          <p:cNvPr id="69" name="Text 67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Formar el equipo y definir responsabilidades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recursos humanos + matriz de asignación de responsabilidades (RACI)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66928" cy="566928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1519001"/>
            <a:ext cx="272125" cy="2721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353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6459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responsabilidades, organigrama del proyecto y plan de gestión del personal.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468880"/>
            <a:ext cx="566928" cy="566928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01" y="261628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4505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Negociar y adquirir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2743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gerentes funcionales, contratación externa o asignación previa.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7200" y="3566160"/>
            <a:ext cx="566928" cy="566928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3713561"/>
            <a:ext cx="272125" cy="27212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5478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38404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tarea con un responsable claro; considerar equipos virtuales.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9080" y="1371600"/>
          <a:ext cx="46177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502920"/>
                <a:gridCol w="685800"/>
                <a:gridCol w="1005840"/>
                <a:gridCol w="502920"/>
                <a:gridCol w="5943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Desarrollador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Levantar requisitos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7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3A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8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Diseñar solución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7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3A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3A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Programar módulos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3A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7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3A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Probar el sistema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3A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7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3A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Aceptar entregables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7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3A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3A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</a:tbl>
          </a:graphicData>
        </a:graphic>
      </p:graphicFrame>
      <p:sp>
        <p:nvSpPr>
          <p:cNvPr id="17" name="Shape 11"/>
          <p:cNvSpPr/>
          <p:nvPr/>
        </p:nvSpPr>
        <p:spPr>
          <a:xfrm>
            <a:off x="4069080" y="388620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069080" y="3886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4416552" y="3886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(ejecuta)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400800" y="388620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400800" y="3886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6748272" y="3886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Aprobador (rinde cuentas)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069080" y="423367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069080" y="4233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4416552" y="42336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Consultado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400800" y="423367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8FA3AD"/>
          </a:solidFill>
          <a:ln w="12700">
            <a:solidFill>
              <a:srgbClr val="8FA3AD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6400800" y="4233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6748272" y="42336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Informado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del equipo: modelo de Tuckman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equipo atraviesa etapas antes de alcanzar su máximo desempeño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0"/>
            <a:ext cx="1554480" cy="1508760"/>
          </a:xfrm>
          <a:prstGeom prst="roundRect">
            <a:avLst>
              <a:gd name="adj" fmla="val 4848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5844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913632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conocen; dependen del líder y hay incertidumbre.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03120" y="288036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40280" y="2971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33558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Tormenta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3685032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Surgen conflictos sobre roles, ideas y métodos.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749040" y="2651760"/>
            <a:ext cx="1554480" cy="1965960"/>
          </a:xfrm>
          <a:prstGeom prst="roundRect">
            <a:avLst>
              <a:gd name="adj" fmla="val 4706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8620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31272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3456432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acuerdan normas; crece la confianza.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94960" y="2377440"/>
            <a:ext cx="1554480" cy="2240280"/>
          </a:xfrm>
          <a:prstGeom prst="roundRect">
            <a:avLst>
              <a:gd name="adj" fmla="val 4706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32120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28529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532120" y="3182112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autónomo, colaborativo y productivo.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40880" y="2834640"/>
            <a:ext cx="1554480" cy="1783080"/>
          </a:xfrm>
          <a:prstGeom prst="roundRect">
            <a:avLst>
              <a:gd name="adj" fmla="val 4706"/>
            </a:avLst>
          </a:prstGeom>
          <a:solidFill>
            <a:srgbClr val="8FA3AD"/>
          </a:solidFill>
          <a:ln w="12700">
            <a:solidFill>
              <a:srgbClr val="8FA3A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78040" y="2926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3101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Disolución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639312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cierra el trabajo y se reconoce el logro.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1502359"/>
            <a:ext cx="241402" cy="24140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188720" y="13441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del gerente: guiar en la formación, mediar en la tormenta, facilitar en la normalización y delegar en el desempeño.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motiva a las personas?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Teorías clásicas que el gerente puede aplicar al día a día del proyecto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Pirámide de Maslow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508760" y="164592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08760" y="164592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Autorrealización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243584" y="2249424"/>
            <a:ext cx="2267712" cy="530352"/>
          </a:xfrm>
          <a:prstGeom prst="roundRect">
            <a:avLst>
              <a:gd name="adj" fmla="val 10345"/>
            </a:avLst>
          </a:prstGeom>
          <a:solidFill>
            <a:srgbClr val="E9B872"/>
          </a:solidFill>
          <a:ln w="12700">
            <a:solidFill>
              <a:srgbClr val="E9B87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43584" y="2249424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78408" y="2852928"/>
            <a:ext cx="2798064" cy="530352"/>
          </a:xfrm>
          <a:prstGeom prst="roundRect">
            <a:avLst>
              <a:gd name="adj" fmla="val 10345"/>
            </a:avLst>
          </a:prstGeom>
          <a:solidFill>
            <a:srgbClr val="7FB3BC"/>
          </a:solidFill>
          <a:ln w="12700">
            <a:solidFill>
              <a:srgbClr val="7FB3B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78408" y="2852928"/>
            <a:ext cx="2798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3232" y="3456432"/>
            <a:ext cx="3328416" cy="530352"/>
          </a:xfrm>
          <a:prstGeom prst="roundRect">
            <a:avLst>
              <a:gd name="adj" fmla="val 10345"/>
            </a:avLst>
          </a:prstGeom>
          <a:solidFill>
            <a:srgbClr val="4E97A3"/>
          </a:solidFill>
          <a:ln w="12700">
            <a:solidFill>
              <a:srgbClr val="4E97A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3456432"/>
            <a:ext cx="3328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8056" y="4059936"/>
            <a:ext cx="3858768" cy="530352"/>
          </a:xfrm>
          <a:prstGeom prst="roundRect">
            <a:avLst>
              <a:gd name="adj" fmla="val 10345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8056" y="4059936"/>
            <a:ext cx="3858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Fisiológicas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13258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508760"/>
            <a:ext cx="502920" cy="502920"/>
          </a:xfrm>
          <a:prstGeom prst="ellipse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7079" y="1639519"/>
            <a:ext cx="241402" cy="24140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486400" y="1508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Herzberg: dos factores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21031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Higiene: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salario, condiciones, políticas. Su ausencia desmotiva.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Motivadores: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logro, reconocimiento, responsabilidad, crecimiento.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663440" y="310896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46320" y="3291840"/>
            <a:ext cx="502920" cy="502920"/>
          </a:xfrm>
          <a:prstGeom prst="ellipse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079" y="3422599"/>
            <a:ext cx="241402" cy="24140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486400" y="3291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McGregor: Teoría X e Y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4846320" y="38862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gente evita el trabajo → supervisión estricta.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gente busca retos → autonomía y confianza.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Poder e influencia del gerente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autoridad formal plena, el gerente debe saber influir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017520" cy="3291840"/>
          </a:xfrm>
          <a:prstGeom prst="roundRect">
            <a:avLst>
              <a:gd name="adj" fmla="val 3636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777240" cy="77724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80228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560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clave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88036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tipos de poder más efectivos son el experto y el de recompensa; el menos efectivo es el coercitivo.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3794760" y="1417320"/>
            <a:ext cx="475488" cy="475488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387" y="1540947"/>
            <a:ext cx="228234" cy="22823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34840" y="139903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Legítimo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897880" y="1399032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Proviene del cargo o la posición formal.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794760" y="2084832"/>
            <a:ext cx="475488" cy="475488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387" y="2208459"/>
            <a:ext cx="228234" cy="22823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434840" y="206654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Experto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897880" y="2066544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basa en conocimiento y experiencia reconocidos.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3794760" y="2752344"/>
            <a:ext cx="475488" cy="475488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8387" y="2875971"/>
            <a:ext cx="228234" cy="22823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434840" y="273405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recompensa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5897880" y="2734056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otorgar incentivos, ascensos o reconocimiento.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3794760" y="3419856"/>
            <a:ext cx="475488" cy="47548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8387" y="3543483"/>
            <a:ext cx="228234" cy="22823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434840" y="340156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Coercitivo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5897880" y="3401568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sanciones o amenazas; genera resistencia.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3794760" y="4087368"/>
            <a:ext cx="475488" cy="475488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8387" y="4210995"/>
            <a:ext cx="228234" cy="22823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434840" y="406908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5897880" y="4069080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Carisma y buena relación; la gente quiere seguirte.</a:t>
            </a:r>
            <a:endParaRPr lang="en-US" sz="1150" dirty="0"/>
          </a:p>
        </p:txBody>
      </p:sp>
      <p:sp>
        <p:nvSpPr>
          <p:cNvPr id="29" name="Text 2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conflictos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conflicto es inevitable; lo importante es cómo se resuelve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más comunes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383280" cy="347472"/>
          </a:xfrm>
          <a:prstGeom prst="roundRect">
            <a:avLst>
              <a:gd name="adj" fmla="val 13158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6459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Cronogramas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75688"/>
            <a:ext cx="3108960" cy="347472"/>
          </a:xfrm>
          <a:prstGeom prst="roundRect">
            <a:avLst>
              <a:gd name="adj" fmla="val 13158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0756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Prioridades del proyecto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505456"/>
            <a:ext cx="2834640" cy="347472"/>
          </a:xfrm>
          <a:prstGeom prst="roundRect">
            <a:avLst>
              <a:gd name="adj" fmla="val 13158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505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Recursos humanos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935224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F2B8A6"/>
          </a:solidFill>
          <a:ln w="12700">
            <a:solidFill>
              <a:srgbClr val="F2B8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9352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Opiniones técnicas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364992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F2B8A6"/>
          </a:solidFill>
          <a:ln w="12700">
            <a:solidFill>
              <a:srgbClr val="F2B8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3649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Procedimientos administrativos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2B8A6"/>
          </a:solidFill>
          <a:ln w="12700">
            <a:solidFill>
              <a:srgbClr val="F2B8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3794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Costos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224528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2B8A6"/>
          </a:solidFill>
          <a:ln w="12700">
            <a:solidFill>
              <a:srgbClr val="F2B8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42245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Personalidades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1280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resolución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24528" y="1591056"/>
            <a:ext cx="4480560" cy="493776"/>
          </a:xfrm>
          <a:prstGeom prst="roundRect">
            <a:avLst>
              <a:gd name="adj" fmla="val 11111"/>
            </a:avLst>
          </a:prstGeom>
          <a:solidFill>
            <a:srgbClr val="FBE3CC"/>
          </a:solidFill>
          <a:ln w="12700">
            <a:solidFill>
              <a:srgbClr val="FBE3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1627632"/>
            <a:ext cx="420624" cy="420624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7042" y="1736994"/>
            <a:ext cx="201900" cy="20190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846320" y="1627632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Confrontar / resolver el problema: </a:t>
            </a:r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las causas y buscar la mejor solución. Ganar-ganar.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297680" y="2139696"/>
            <a:ext cx="420624" cy="420624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042" y="2249058"/>
            <a:ext cx="201900" cy="20190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4846320" y="2139696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Colaborar: </a:t>
            </a:r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varios puntos de vista para lograr consenso.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297680" y="2651760"/>
            <a:ext cx="420624" cy="420624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042" y="2761122"/>
            <a:ext cx="201900" cy="20190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4846320" y="2651760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Negociar / comprometerse: </a:t>
            </a:r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parte cede algo.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4297680" y="3163824"/>
            <a:ext cx="420624" cy="420624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042" y="3273186"/>
            <a:ext cx="201900" cy="20190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846320" y="3163824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Suavizar: </a:t>
            </a:r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Destacar coincidencias y minimizar diferencias.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4297680" y="3675888"/>
            <a:ext cx="420624" cy="420624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042" y="3785250"/>
            <a:ext cx="201900" cy="20190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4846320" y="3675888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Forzar: </a:t>
            </a:r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Imponer una solución; ganar-perder.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4297680" y="4187952"/>
            <a:ext cx="420624" cy="420624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7042" y="4297314"/>
            <a:ext cx="201900" cy="20190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4846320" y="4187952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Retirarse / evitar: </a:t>
            </a:r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Posponer el problema; el menos efectivo.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85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Adquisición de bienes y servicios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661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proyecto necesita algo que la organización no tiene o no le conviene producir, lo obtiene de proveedores externos.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35040" y="1143000"/>
            <a:ext cx="2651760" cy="265176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4498" y="1832458"/>
            <a:ext cx="1272845" cy="127284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proceso de adquisiciones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fases, desde decidir qué comprar hasta cerrar el contrato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874520" cy="2926080"/>
          </a:xfrm>
          <a:prstGeom prst="roundRect">
            <a:avLst>
              <a:gd name="adj" fmla="val 487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1645920"/>
            <a:ext cx="914400" cy="91440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18836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697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Planificar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310896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qué, cuándo y cómo comprar; análisis de hacer o comprar; redactar el SOW.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152" y="1993392"/>
            <a:ext cx="182880" cy="182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60320" y="1417320"/>
            <a:ext cx="1874520" cy="2926080"/>
          </a:xfrm>
          <a:prstGeom prst="roundRect">
            <a:avLst>
              <a:gd name="adj" fmla="val 487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044952" y="1645920"/>
            <a:ext cx="914400" cy="91440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696" y="1883664"/>
            <a:ext cx="438912" cy="4389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697480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2697480" y="2697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Efectuar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2724912" y="310896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ofertas, evaluar propuestas, seleccionar al proveedor y firmar.</a:t>
            </a:r>
            <a:endParaRPr lang="en-US" sz="11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1993392"/>
            <a:ext cx="182880" cy="18288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663440" y="1417320"/>
            <a:ext cx="1874520" cy="2926080"/>
          </a:xfrm>
          <a:prstGeom prst="roundRect">
            <a:avLst>
              <a:gd name="adj" fmla="val 487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148072" y="1645920"/>
            <a:ext cx="914400" cy="91440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816" y="1883664"/>
            <a:ext cx="438912" cy="43891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800600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4800600" y="2697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Controlar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4828032" y="310896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Administrar el contrato: desempeño, cambios, pagos y reclamaciones.</a:t>
            </a:r>
            <a:endParaRPr lang="en-US" sz="11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1993392"/>
            <a:ext cx="182880" cy="18288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766560" y="1417320"/>
            <a:ext cx="1874520" cy="2926080"/>
          </a:xfrm>
          <a:prstGeom prst="roundRect">
            <a:avLst>
              <a:gd name="adj" fmla="val 487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7251192" y="1645920"/>
            <a:ext cx="914400" cy="9144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8936" y="1883664"/>
            <a:ext cx="438912" cy="43891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903720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0"/>
          <p:cNvSpPr txBox="1"/>
          <p:nvPr/>
        </p:nvSpPr>
        <p:spPr>
          <a:xfrm>
            <a:off x="6903720" y="2697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Cerrar</a:t>
            </a:r>
            <a:endParaRPr lang="en-US" sz="1700" dirty="0"/>
          </a:p>
        </p:txBody>
      </p:sp>
      <p:sp>
        <p:nvSpPr>
          <p:cNvPr id="30" name="Text 21"/>
          <p:cNvSpPr txBox="1"/>
          <p:nvPr/>
        </p:nvSpPr>
        <p:spPr>
          <a:xfrm>
            <a:off x="6931152" y="310896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entregables, liquidar el contrato y documentar lecciones.</a:t>
            </a:r>
            <a:endParaRPr lang="en-US" sz="1150" dirty="0"/>
          </a:p>
        </p:txBody>
      </p:sp>
      <p:sp>
        <p:nvSpPr>
          <p:cNvPr id="31" name="Text 22"/>
          <p:cNvSpPr txBox="1"/>
          <p:nvPr/>
        </p:nvSpPr>
        <p:spPr>
          <a:xfrm>
            <a:off x="457200" y="44622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 </a:t>
            </a:r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(nuestra organización) y </a:t>
            </a:r>
            <a:pPr indent="0" marL="0">
              <a:buNone/>
            </a:pPr>
            <a:r>
              <a:rPr lang="en-US" sz="1150" b="1" i="1" dirty="0">
                <a:solidFill>
                  <a:srgbClr val="B86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 </a:t>
            </a:r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(proveedor) quedan unidos por un contrato: un acuerdo legal que obliga a ambas partes.</a:t>
            </a:r>
            <a:endParaRPr lang="en-US" sz="1150" dirty="0"/>
          </a:p>
        </p:txBody>
      </p:sp>
      <p:sp>
        <p:nvSpPr>
          <p:cNvPr id="32" name="Text 23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Decisión de hacer o comprar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¿Desarrollarlo internamente o adquirirlo a un proveedor?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02920" cy="50292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" y="145663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325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Conviene hacerlo si…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9202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capacidad y conocimiento interno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quiere proteger información sensible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competencia central del negocio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3017520"/>
            <a:ext cx="502920" cy="5029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" y="314827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3017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Conviene comprarlo si…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6118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costos o tiempo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necesita experiencia especializada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desea transferir riesgo al proveedor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206240" y="1280160"/>
            <a:ext cx="4480560" cy="3520440"/>
          </a:xfrm>
          <a:prstGeom prst="roundRect">
            <a:avLst>
              <a:gd name="adj" fmla="val 259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graphicFrame>
        <p:nvGraphicFramePr>
          <p:cNvPr id="13" name="Chart 0" descr=""/>
          <p:cNvGraphicFramePr/>
          <p:nvPr/>
        </p:nvGraphicFramePr>
        <p:xfrm>
          <a:off x="4297680" y="1371600"/>
          <a:ext cx="42976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4389120" y="4160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equilibrio: 30 meses. </a:t>
            </a:r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usará por más tiempo, conviene desarrollar.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Documentos de solicitud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 explicamos al mercado lo que necesitamos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291840" cy="3474720"/>
          </a:xfrm>
          <a:prstGeom prst="roundRect">
            <a:avLst>
              <a:gd name="adj" fmla="val 3333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5448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995" y="17446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572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SOW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9385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 del trabajo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4688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con detalle lo que se va a adquirir para que los proveedores puedan ofertar: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1089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y entregables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Especificaciones técnicas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y plazos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aceptación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023360" y="1325880"/>
            <a:ext cx="2240280" cy="1645920"/>
          </a:xfrm>
          <a:prstGeom prst="roundRect">
            <a:avLst>
              <a:gd name="adj" fmla="val 5556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06240" y="1508760"/>
            <a:ext cx="731520" cy="384048"/>
          </a:xfrm>
          <a:prstGeom prst="roundRect">
            <a:avLst>
              <a:gd name="adj" fmla="val 19048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206240" y="15087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20624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de información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206240" y="2240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el mercado y conocer qué ofrecen los proveedores.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0" y="1325880"/>
            <a:ext cx="2240280" cy="1645920"/>
          </a:xfrm>
          <a:prstGeom prst="roundRect">
            <a:avLst>
              <a:gd name="adj" fmla="val 5556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0" y="1508760"/>
            <a:ext cx="731520" cy="384048"/>
          </a:xfrm>
          <a:prstGeom prst="roundRect">
            <a:avLst>
              <a:gd name="adj" fmla="val 19048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0" y="15087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58368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de cotización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0" y="2240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precios cuando el requisito es estándar y claro.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023360" y="3108960"/>
            <a:ext cx="2240280" cy="1645920"/>
          </a:xfrm>
          <a:prstGeom prst="roundRect">
            <a:avLst>
              <a:gd name="adj" fmla="val 5556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206240" y="3291840"/>
            <a:ext cx="731520" cy="384048"/>
          </a:xfrm>
          <a:prstGeom prst="roundRect">
            <a:avLst>
              <a:gd name="adj" fmla="val 19048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206240" y="32918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206240" y="3749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de propuesta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206240" y="40233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soluciones cuando el problema es complejo; se evalúa más que el precio.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00800" y="3108960"/>
            <a:ext cx="2240280" cy="1645920"/>
          </a:xfrm>
          <a:prstGeom prst="roundRect">
            <a:avLst>
              <a:gd name="adj" fmla="val 5556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583680" y="3291840"/>
            <a:ext cx="731520" cy="384048"/>
          </a:xfrm>
          <a:prstGeom prst="roundRect">
            <a:avLst>
              <a:gd name="adj" fmla="val 19048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0" y="32918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583680" y="3749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Invitación a licitar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583680" y="40233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Común en el sector público; suele ganar la oferta de menor precio que cumpla.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contrato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de contrato determina quién asume el riesgo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384048"/>
          </a:xfrm>
          <a:prstGeom prst="rightArrow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el riesgo del COMPRADOR  →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801368"/>
            <a:ext cx="8229600" cy="384048"/>
          </a:xfrm>
          <a:prstGeom prst="leftArrow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18013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Aumenta el riesgo del VENDEDOR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542032"/>
            <a:ext cx="457200" cy="457200"/>
          </a:xfrm>
          <a:prstGeom prst="ellipse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660904"/>
            <a:ext cx="219456" cy="21945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8720" y="25420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fijo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09067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precio total acordado. Ideal cuando el alcance está bien definido.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886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FFP: precio fijo cerrado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FPIF: precio fijo + incentivo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FP-EPA: con ajuste económico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46120" y="237744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29000" y="2542032"/>
            <a:ext cx="457200" cy="457200"/>
          </a:xfrm>
          <a:prstGeom prst="ellipse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2660904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977640" y="25420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y materiales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3429000" y="309067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Híbrido: se paga por hora y por materiales. Útil para trabajos pequeños o apoyo de personal.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3429000" y="3886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 por hora/persona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un tope máximo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de contratar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035040" y="237744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17920" y="2542032"/>
            <a:ext cx="457200" cy="457200"/>
          </a:xfrm>
          <a:prstGeom prst="ellipse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660904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766560" y="25420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reembolsable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6217920" y="309067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reembolsan los costos reales más un honorario. Para alcance incierto o innovación.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6217920" y="3886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CPFF: costo + honorario fijo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CPIF: costo + incentivo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CPAF: costo + bonificación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de proveedores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puntuación ponderada: criterios objetivos, no solo el precio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572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0080"/>
                <a:gridCol w="731520"/>
                <a:gridCol w="731520"/>
                <a:gridCol w="7315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Prov. 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Prov. 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Prov. 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Enfoque técnico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Experiencia comprobada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 de gestión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Puntaje ponderado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C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1 a 10. Puntaje = Σ (peso × calificación).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303520" y="1280160"/>
          <a:ext cx="33832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5394960" y="4114800"/>
            <a:ext cx="502920" cy="5029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5719" y="4245559"/>
            <a:ext cx="241402" cy="24140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989320" y="40690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el Proveedor B, aunque A tiene mejor enfoque técnico y no es el más barato en todo.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Controlar y cerrar las adquisiciones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Firmar el contrato no es el final: hay que administrarlo hasta su cierre formal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0574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2188159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2029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del desempeño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3042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avances, calidad y plazos del proveedor.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295351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" y="3084271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25880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cambios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325880" y="3200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cambio al contrato se aprueba y documenta por escrito.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85800" y="384962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" y="3980383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3822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y reclamaciones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325880" y="40965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 según hitos cumplidos y resolver disputas.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13258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92040" y="15087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892040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4892040" y="20574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2799" y="2188159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532120" y="2029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entregables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5532120" y="23042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que todo lo contratado se recibió y fue aceptado.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892040" y="295351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2799" y="3084271"/>
            <a:ext cx="241402" cy="24140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532120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adquisiciones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5532120" y="3200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el proceso completo, de la planificación al cierre.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892040" y="384962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2799" y="3980383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532120" y="3822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formal y lecciones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5532120" y="40965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escrita de cierre y lecciones aprendidas.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24495C"/>
          </a:solidFill>
          <a:ln w="12700">
            <a:solidFill>
              <a:srgbClr val="2449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731520" cy="73152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995" y="165323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417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importa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7830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3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cuánta autoridad tiene el gerente y cómo negocia los recursos.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24495C"/>
          </a:solidFill>
          <a:ln w="12700">
            <a:solidFill>
              <a:srgbClr val="2449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463040"/>
            <a:ext cx="731520" cy="73152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235" y="165323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852160" y="1417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que evolucionan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852160" y="17830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3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claros (RACI), motivación y reconocimiento llevan al alto desempeño.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24495C"/>
          </a:solidFill>
          <a:ln w="12700">
            <a:solidFill>
              <a:srgbClr val="24495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32461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95" y="343631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32004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 con estrategia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645920" y="35661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3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o comprar, un buen SOW y el contrato adecuado reducen el riesgo.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24495C"/>
          </a:solidFill>
          <a:ln w="12700">
            <a:solidFill>
              <a:srgbClr val="24495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2040" y="32461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235" y="3436315"/>
            <a:ext cx="351130" cy="35113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52160" y="32004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 relación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852160" y="35661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3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equipo o con proveedores, el éxito depende de comunicación y confianza.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9040" y="822960"/>
            <a:ext cx="1645920" cy="16459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6979" y="1250899"/>
            <a:ext cx="790042" cy="7900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6974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6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 o comentarios?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Personas y adquisiciones en proyectos — Grupo 4</dc:title>
  <dc:subject>PptxGenJS Presentation</dc:subject>
  <dc:creator>PptxGenJS</dc:creator>
  <cp:lastModifiedBy>PptxGenJS</cp:lastModifiedBy>
  <cp:revision>1</cp:revision>
  <dcterms:created xsi:type="dcterms:W3CDTF">2026-09-28T03:29:04Z</dcterms:created>
  <dcterms:modified xsi:type="dcterms:W3CDTF">2026-09-28T03:29:04Z</dcterms:modified>
</cp:coreProperties>
</file>